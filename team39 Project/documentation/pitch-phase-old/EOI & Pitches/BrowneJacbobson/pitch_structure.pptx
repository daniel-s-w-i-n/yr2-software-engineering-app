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8BF8-6F84-67B3-E2B2-C0C39E0D7E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86424E-366D-0909-4C83-D7D707DF58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CA74BBA-3C21-8AA7-C416-0FBA2FF94B10}"/>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AFDF0913-6CE7-B770-9064-6C49A3DCC5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94B17B-1573-0587-38A5-2C72AADC0D61}"/>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1510317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8952B-B7A2-F2C7-F594-E9F54141A23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B5E503-FF43-AB37-3F00-7A7051CC5F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D22410-8E35-89E5-336F-9B0484EED670}"/>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C6EE9FFA-4532-0062-C48A-D9C152A18B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74B48D-C7C9-8151-3E95-CC4DFCE5B6CD}"/>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2798273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BD5C6-35D2-517E-C1CC-9C7B65BB8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317C0F-B524-B633-AFF1-6834D75EF7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2AB212-4CC1-CB97-5A9A-5C31AF2E4515}"/>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8712FB27-BEA8-1450-4225-62B0244923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D8FA73-992E-A92A-4E15-E4F707E0222C}"/>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2877823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BF272-3DA5-9270-5529-B32F8FAAB5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ED33003-6CF6-B86F-4410-7F4985FFAA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75889C5-ED69-4322-EE2D-56BFFC69F9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58B44E8-CDA3-1997-2CAB-3543DBFE2F30}"/>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6" name="Footer Placeholder 5">
            <a:extLst>
              <a:ext uri="{FF2B5EF4-FFF2-40B4-BE49-F238E27FC236}">
                <a16:creationId xmlns:a16="http://schemas.microsoft.com/office/drawing/2014/main" id="{C9BAE1C1-511D-D5B6-D866-4449F918A7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97B7E8-6F3E-4447-DE38-FF2BBCBE80B8}"/>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1855645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AE809-F97A-EBF8-47E6-F09118D92D8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A90D5E-8A48-7CB3-11E1-C9F8AC7403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0F4463-3E57-FD1E-8CDA-78BACF4A59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3767C74-CCDA-0E4D-B8BE-3560CBF05D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00D9AA-6984-F9F0-CCCD-6BF2761E86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4C1F3C7-1380-A0A3-6378-8A2DF408CD90}"/>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8" name="Footer Placeholder 7">
            <a:extLst>
              <a:ext uri="{FF2B5EF4-FFF2-40B4-BE49-F238E27FC236}">
                <a16:creationId xmlns:a16="http://schemas.microsoft.com/office/drawing/2014/main" id="{5D4D0AE1-7964-53DD-A9AA-BDCB65981BB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1398D0-F66D-BFD6-0AA9-E6F24A59A288}"/>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15814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CFAA2-2D77-6BD0-1FA9-6A41BB53E88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37A04A-F3E4-8BA4-3807-FC80A75E382D}"/>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4" name="Footer Placeholder 3">
            <a:extLst>
              <a:ext uri="{FF2B5EF4-FFF2-40B4-BE49-F238E27FC236}">
                <a16:creationId xmlns:a16="http://schemas.microsoft.com/office/drawing/2014/main" id="{E0B0C347-F80C-40E1-C38F-10640BC70E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513C485-B10C-3C4E-5712-61C2EE6FEB56}"/>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34036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3B99E0-9320-BEE5-D0D4-12DFF8B32B62}"/>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3" name="Footer Placeholder 2">
            <a:extLst>
              <a:ext uri="{FF2B5EF4-FFF2-40B4-BE49-F238E27FC236}">
                <a16:creationId xmlns:a16="http://schemas.microsoft.com/office/drawing/2014/main" id="{4A1324BE-8F94-9BAE-038A-221A8F3E11B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62030B2-0B3C-14FC-4666-92F9AAA3F9B9}"/>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4089598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5A68-E29D-DB6C-A20A-5DBB78140F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5226AE3-F1F1-2C2C-CF8F-D4F8FB4E8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161D673-0266-B3D0-3E57-697303A75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EAF112-89C7-C3B5-C96A-F9FDB7514D65}"/>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6" name="Footer Placeholder 5">
            <a:extLst>
              <a:ext uri="{FF2B5EF4-FFF2-40B4-BE49-F238E27FC236}">
                <a16:creationId xmlns:a16="http://schemas.microsoft.com/office/drawing/2014/main" id="{2B3CE0D3-C8C3-53CE-A282-C0A194AF9C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6243D8-382E-C11B-7DC2-A05F62BBAF3D}"/>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4170382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57DA0-1704-6073-C30D-73F065910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2F8E155-1C85-C0D3-600B-6162F658F6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3643E6A-158F-3A55-7AE2-A178102876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39431-5852-4070-FAA6-A160FC98F60E}"/>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6" name="Footer Placeholder 5">
            <a:extLst>
              <a:ext uri="{FF2B5EF4-FFF2-40B4-BE49-F238E27FC236}">
                <a16:creationId xmlns:a16="http://schemas.microsoft.com/office/drawing/2014/main" id="{4CE6ACB6-AFC7-00EF-92A9-2BE6DCBFAA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ED7B13-7132-8C74-3E92-DF448FEBBDFB}"/>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259343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26653-1BAD-02FB-BEB9-4DAC8F377E5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45233FD-0E54-489F-0551-0354A6F12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EAF007-54EC-5BCA-043B-C43BA95451F6}"/>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E0FE5973-4214-5CDF-3E46-4BAD7AC972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ECFA3F-C4B2-AC57-ADFA-F1227ABF819E}"/>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847314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099BF7-B20B-9346-0FFF-02561C8246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1DF5878-7C24-618D-4D43-9EB71C39F6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75AEB7-7B13-922E-4219-0DEBABF315A0}"/>
              </a:ext>
            </a:extLst>
          </p:cNvPr>
          <p:cNvSpPr>
            <a:spLocks noGrp="1"/>
          </p:cNvSpPr>
          <p:nvPr>
            <p:ph type="dt" sz="half" idx="10"/>
          </p:nvPr>
        </p:nvSpPr>
        <p:spPr/>
        <p:txBody>
          <a:body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B89F28D0-F786-08D9-3956-534EA9CFF4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944E8C-F557-A837-D64C-FCC281737129}"/>
              </a:ext>
            </a:extLst>
          </p:cNvPr>
          <p:cNvSpPr>
            <a:spLocks noGrp="1"/>
          </p:cNvSpPr>
          <p:nvPr>
            <p:ph type="sldNum" sz="quarter" idx="12"/>
          </p:nvPr>
        </p:nvSpPr>
        <p:spPr/>
        <p:txBody>
          <a:bodyPr/>
          <a:lstStyle/>
          <a:p>
            <a:fld id="{4B49D728-290E-49F8-8B88-1A3568A1B887}" type="slidenum">
              <a:rPr lang="en-GB" smtClean="0"/>
              <a:t>‹#›</a:t>
            </a:fld>
            <a:endParaRPr lang="en-GB"/>
          </a:p>
        </p:txBody>
      </p:sp>
    </p:spTree>
    <p:extLst>
      <p:ext uri="{BB962C8B-B14F-4D97-AF65-F5344CB8AC3E}">
        <p14:creationId xmlns:p14="http://schemas.microsoft.com/office/powerpoint/2010/main" val="133185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F1FCE5-E547-1B4E-1A63-D4F56CD475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FDC4653-04FD-26F6-317C-A534AB4D6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90EF09-9FA0-352F-7C6A-10B43AA3E5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AF31D-5DEC-4819-9E53-61D57B864DA1}" type="datetimeFigureOut">
              <a:rPr lang="en-GB" smtClean="0"/>
              <a:t>15/10/2023</a:t>
            </a:fld>
            <a:endParaRPr lang="en-GB"/>
          </a:p>
        </p:txBody>
      </p:sp>
      <p:sp>
        <p:nvSpPr>
          <p:cNvPr id="5" name="Footer Placeholder 4">
            <a:extLst>
              <a:ext uri="{FF2B5EF4-FFF2-40B4-BE49-F238E27FC236}">
                <a16:creationId xmlns:a16="http://schemas.microsoft.com/office/drawing/2014/main" id="{367648CC-E9B2-4CCE-4CA6-6685976567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565A9F1-056A-14E1-D984-1B4D378AAC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49D728-290E-49F8-8B88-1A3568A1B887}" type="slidenum">
              <a:rPr lang="en-GB" smtClean="0"/>
              <a:t>‹#›</a:t>
            </a:fld>
            <a:endParaRPr lang="en-GB"/>
          </a:p>
        </p:txBody>
      </p:sp>
    </p:spTree>
    <p:extLst>
      <p:ext uri="{BB962C8B-B14F-4D97-AF65-F5344CB8AC3E}">
        <p14:creationId xmlns:p14="http://schemas.microsoft.com/office/powerpoint/2010/main" val="1961521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FD07-1DA8-9C03-8C8F-98223E581116}"/>
              </a:ext>
            </a:extLst>
          </p:cNvPr>
          <p:cNvSpPr>
            <a:spLocks noGrp="1"/>
          </p:cNvSpPr>
          <p:nvPr>
            <p:ph type="title"/>
          </p:nvPr>
        </p:nvSpPr>
        <p:spPr/>
        <p:txBody>
          <a:bodyPr/>
          <a:lstStyle/>
          <a:p>
            <a:r>
              <a:rPr lang="en-US" dirty="0"/>
              <a:t>Introduction – Intro to the Video</a:t>
            </a:r>
            <a:endParaRPr lang="en-GB" dirty="0"/>
          </a:p>
        </p:txBody>
      </p:sp>
      <p:sp>
        <p:nvSpPr>
          <p:cNvPr id="3" name="Content Placeholder 2">
            <a:extLst>
              <a:ext uri="{FF2B5EF4-FFF2-40B4-BE49-F238E27FC236}">
                <a16:creationId xmlns:a16="http://schemas.microsoft.com/office/drawing/2014/main" id="{857A7F14-F053-5D89-AA29-1A6EF3B7FFEF}"/>
              </a:ext>
            </a:extLst>
          </p:cNvPr>
          <p:cNvSpPr>
            <a:spLocks noGrp="1"/>
          </p:cNvSpPr>
          <p:nvPr>
            <p:ph idx="1"/>
          </p:nvPr>
        </p:nvSpPr>
        <p:spPr/>
        <p:txBody>
          <a:bodyPr/>
          <a:lstStyle/>
          <a:p>
            <a:r>
              <a:rPr lang="en-US" dirty="0"/>
              <a:t>Introduce the team</a:t>
            </a:r>
          </a:p>
          <a:p>
            <a:r>
              <a:rPr lang="en-US" dirty="0"/>
              <a:t>Why we are interested, express interest in company (research company), express gratitude for the opportunity</a:t>
            </a:r>
          </a:p>
          <a:p>
            <a:r>
              <a:rPr lang="en-US" dirty="0"/>
              <a:t>Why we work well as a team (evidence of what we have done so far (Git, Teams, Roles, etc.))</a:t>
            </a:r>
          </a:p>
          <a:p>
            <a:r>
              <a:rPr lang="en-US" dirty="0"/>
              <a:t>An overview of our past technical capabilities</a:t>
            </a:r>
          </a:p>
          <a:p>
            <a:r>
              <a:rPr lang="en-US" dirty="0"/>
              <a:t>Why we believe we are applicable to the project/company</a:t>
            </a:r>
          </a:p>
          <a:p>
            <a:r>
              <a:rPr lang="en-US" dirty="0"/>
              <a:t>An overview for our approach to the project</a:t>
            </a:r>
          </a:p>
          <a:p>
            <a:endParaRPr lang="en-US" dirty="0"/>
          </a:p>
          <a:p>
            <a:endParaRPr lang="en-GB" dirty="0"/>
          </a:p>
        </p:txBody>
      </p:sp>
    </p:spTree>
    <p:extLst>
      <p:ext uri="{BB962C8B-B14F-4D97-AF65-F5344CB8AC3E}">
        <p14:creationId xmlns:p14="http://schemas.microsoft.com/office/powerpoint/2010/main" val="324605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C1D-5A30-CD7C-FABE-05DDCC142F68}"/>
              </a:ext>
            </a:extLst>
          </p:cNvPr>
          <p:cNvSpPr>
            <a:spLocks noGrp="1"/>
          </p:cNvSpPr>
          <p:nvPr>
            <p:ph type="title"/>
          </p:nvPr>
        </p:nvSpPr>
        <p:spPr/>
        <p:txBody>
          <a:bodyPr/>
          <a:lstStyle/>
          <a:p>
            <a:r>
              <a:rPr lang="en-US" dirty="0"/>
              <a:t>Problem Statement – We Discuss the Problem</a:t>
            </a:r>
            <a:endParaRPr lang="en-GB" dirty="0"/>
          </a:p>
        </p:txBody>
      </p:sp>
      <p:sp>
        <p:nvSpPr>
          <p:cNvPr id="3" name="Content Placeholder 2">
            <a:extLst>
              <a:ext uri="{FF2B5EF4-FFF2-40B4-BE49-F238E27FC236}">
                <a16:creationId xmlns:a16="http://schemas.microsoft.com/office/drawing/2014/main" id="{FD25A0BA-6E3B-046A-573B-AB3BA4E658B2}"/>
              </a:ext>
            </a:extLst>
          </p:cNvPr>
          <p:cNvSpPr>
            <a:spLocks noGrp="1"/>
          </p:cNvSpPr>
          <p:nvPr>
            <p:ph idx="1"/>
          </p:nvPr>
        </p:nvSpPr>
        <p:spPr/>
        <p:txBody>
          <a:bodyPr>
            <a:normAutofit/>
          </a:bodyPr>
          <a:lstStyle/>
          <a:p>
            <a:r>
              <a:rPr lang="en-US" dirty="0"/>
              <a:t>Why this project is required in the modern world (streamlines the legal contract creation process leading to higher efficiency with both the client and company, ensures a secure platform to handle legal documents)</a:t>
            </a:r>
          </a:p>
          <a:p>
            <a:r>
              <a:rPr lang="en-US" dirty="0"/>
              <a:t>Why it is important to include ease-of-access features for various types of users (visually impaired, older generation, etc.)</a:t>
            </a:r>
          </a:p>
          <a:p>
            <a:r>
              <a:rPr lang="en-US" dirty="0"/>
              <a:t>How AI language models are the future and why it is relevant to the reasons above</a:t>
            </a:r>
          </a:p>
          <a:p>
            <a:pPr lvl="1"/>
            <a:r>
              <a:rPr lang="en-US" dirty="0"/>
              <a:t>All while giving a human approach to the feedback forms (customer service)</a:t>
            </a:r>
          </a:p>
          <a:p>
            <a:pPr marL="0" indent="0">
              <a:buNone/>
            </a:pPr>
            <a:endParaRPr lang="en-GB" dirty="0"/>
          </a:p>
        </p:txBody>
      </p:sp>
    </p:spTree>
    <p:extLst>
      <p:ext uri="{BB962C8B-B14F-4D97-AF65-F5344CB8AC3E}">
        <p14:creationId xmlns:p14="http://schemas.microsoft.com/office/powerpoint/2010/main" val="1380803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5329D-F47C-F09C-4993-5154364E6E2F}"/>
              </a:ext>
            </a:extLst>
          </p:cNvPr>
          <p:cNvSpPr>
            <a:spLocks noGrp="1"/>
          </p:cNvSpPr>
          <p:nvPr>
            <p:ph type="title"/>
          </p:nvPr>
        </p:nvSpPr>
        <p:spPr>
          <a:xfrm>
            <a:off x="838200" y="-220133"/>
            <a:ext cx="10515600" cy="1325563"/>
          </a:xfrm>
        </p:spPr>
        <p:txBody>
          <a:bodyPr>
            <a:normAutofit/>
          </a:bodyPr>
          <a:lstStyle/>
          <a:p>
            <a:r>
              <a:rPr lang="en-US" sz="3200" dirty="0"/>
              <a:t>Solution – an Outline with Ambiguity</a:t>
            </a:r>
            <a:endParaRPr lang="en-GB" sz="3200" dirty="0"/>
          </a:p>
        </p:txBody>
      </p:sp>
      <p:sp>
        <p:nvSpPr>
          <p:cNvPr id="3" name="Content Placeholder 2">
            <a:extLst>
              <a:ext uri="{FF2B5EF4-FFF2-40B4-BE49-F238E27FC236}">
                <a16:creationId xmlns:a16="http://schemas.microsoft.com/office/drawing/2014/main" id="{F5CBA0D0-AD99-54D1-A19A-F42DD938E2A0}"/>
              </a:ext>
            </a:extLst>
          </p:cNvPr>
          <p:cNvSpPr>
            <a:spLocks noGrp="1"/>
          </p:cNvSpPr>
          <p:nvPr>
            <p:ph idx="1"/>
          </p:nvPr>
        </p:nvSpPr>
        <p:spPr>
          <a:xfrm>
            <a:off x="838200" y="859365"/>
            <a:ext cx="10515600" cy="5905501"/>
          </a:xfrm>
        </p:spPr>
        <p:txBody>
          <a:bodyPr>
            <a:noAutofit/>
          </a:bodyPr>
          <a:lstStyle/>
          <a:p>
            <a:r>
              <a:rPr lang="en-US" sz="2000" dirty="0"/>
              <a:t>1. Initial Planning and Requirements Gathering: </a:t>
            </a:r>
          </a:p>
          <a:p>
            <a:pPr lvl="1"/>
            <a:r>
              <a:rPr lang="en-US" sz="1200" dirty="0"/>
              <a:t>Detailed Specification: </a:t>
            </a:r>
          </a:p>
          <a:p>
            <a:pPr lvl="2"/>
            <a:r>
              <a:rPr lang="en-US" sz="900" dirty="0"/>
              <a:t>Create a document outlining project requirements, functionalities, user personas, and legal standards</a:t>
            </a:r>
          </a:p>
          <a:p>
            <a:pPr lvl="2"/>
            <a:r>
              <a:rPr lang="en-US" sz="900" dirty="0"/>
              <a:t>make sure that  legal expertise is thought of in every aspect of the specifications.</a:t>
            </a:r>
          </a:p>
          <a:p>
            <a:r>
              <a:rPr lang="en-US" sz="2000" dirty="0"/>
              <a:t>2. System Design and Architecture:</a:t>
            </a:r>
          </a:p>
          <a:p>
            <a:pPr lvl="1"/>
            <a:r>
              <a:rPr lang="en-US" sz="1100" dirty="0"/>
              <a:t>Cloud-Based Infrastructure: We’ll could use Amazon Web Services (AWS). </a:t>
            </a:r>
          </a:p>
          <a:p>
            <a:pPr lvl="2"/>
            <a:r>
              <a:rPr lang="en-US" sz="800" dirty="0"/>
              <a:t>AWS EC2 instances for scalable computing power</a:t>
            </a:r>
          </a:p>
          <a:p>
            <a:pPr lvl="2"/>
            <a:r>
              <a:rPr lang="en-US" sz="800" dirty="0"/>
              <a:t>Amazon S3 for secure storage of user data and documents.</a:t>
            </a:r>
          </a:p>
          <a:p>
            <a:pPr lvl="1"/>
            <a:r>
              <a:rPr lang="en-US" sz="1100" dirty="0"/>
              <a:t>Compatibility Checks: </a:t>
            </a:r>
          </a:p>
          <a:p>
            <a:pPr lvl="2"/>
            <a:r>
              <a:rPr lang="en-US" sz="800" dirty="0"/>
              <a:t>Implement compatibility checks using programming languages. </a:t>
            </a:r>
          </a:p>
          <a:p>
            <a:pPr lvl="2"/>
            <a:r>
              <a:rPr lang="en-US" sz="800" dirty="0"/>
              <a:t>Use JavaScript with libraries like jQuery for client-side validations, ensuring cross-browser compatibility. </a:t>
            </a:r>
          </a:p>
          <a:p>
            <a:pPr lvl="2"/>
            <a:r>
              <a:rPr lang="en-US" sz="800" dirty="0"/>
              <a:t>Use HTML, CSS and JavaScript to ensure a seamless experience across various devices and screen sizes.</a:t>
            </a:r>
          </a:p>
          <a:p>
            <a:r>
              <a:rPr lang="en-US" sz="2000" dirty="0"/>
              <a:t>3. Interactive Questionnaire:</a:t>
            </a:r>
          </a:p>
          <a:p>
            <a:pPr lvl="1"/>
            <a:r>
              <a:rPr lang="en-US" sz="1200" dirty="0"/>
              <a:t>Dynamic Questionnaire System: </a:t>
            </a:r>
          </a:p>
          <a:p>
            <a:pPr lvl="2"/>
            <a:r>
              <a:rPr lang="en-US" sz="900" dirty="0"/>
              <a:t>Develop the dynamic questionnaire using JavaScript and frameworks like React or Vue.js. 	</a:t>
            </a:r>
          </a:p>
          <a:p>
            <a:pPr lvl="2"/>
            <a:r>
              <a:rPr lang="en-US" sz="800" dirty="0"/>
              <a:t>Use Node.js for server-side scripting, allowing for real-time updates. </a:t>
            </a:r>
          </a:p>
          <a:p>
            <a:pPr lvl="1"/>
            <a:r>
              <a:rPr lang="en-US" sz="1100" dirty="0"/>
              <a:t>Data Validation: Implement data validation using server-side scripting languages such as Python (with Django frameworks?) or Node.js.</a:t>
            </a:r>
          </a:p>
          <a:p>
            <a:pPr lvl="2"/>
            <a:r>
              <a:rPr lang="en-US" sz="800" dirty="0"/>
              <a:t>Use regular expressions for precise validation of user inputs, ensuring accuracy and reliability in captured data.</a:t>
            </a:r>
          </a:p>
          <a:p>
            <a:r>
              <a:rPr lang="en-US" sz="2000" dirty="0"/>
              <a:t>4. Contract Drafting Tool:</a:t>
            </a:r>
          </a:p>
          <a:p>
            <a:pPr lvl="1"/>
            <a:r>
              <a:rPr lang="en-US" sz="1200" dirty="0"/>
              <a:t>Algorithm Development: </a:t>
            </a:r>
          </a:p>
          <a:p>
            <a:pPr lvl="2"/>
            <a:r>
              <a:rPr lang="en-US" sz="800" dirty="0"/>
              <a:t>Develop advanced algorithms for translating questionnaire responses into structured legal contracts.	</a:t>
            </a:r>
          </a:p>
          <a:p>
            <a:pPr lvl="2"/>
            <a:r>
              <a:rPr lang="en-US" sz="800" dirty="0"/>
              <a:t>Use Natural Language Processing (NLP) techniques, including Named Entity Recognition (NER) and rule-based systems, for context understanding. Implement decision tree algorithms to handle conditional clauses, covering all scenarios.</a:t>
            </a:r>
          </a:p>
          <a:p>
            <a:pPr lvl="1"/>
            <a:r>
              <a:rPr lang="en-US" sz="1100" dirty="0"/>
              <a:t>Legal Templates: </a:t>
            </a:r>
          </a:p>
          <a:p>
            <a:pPr lvl="2"/>
            <a:r>
              <a:rPr lang="en-US" sz="800" dirty="0"/>
              <a:t>Integrate a vast library of industry-standard compliant legal templates.</a:t>
            </a:r>
          </a:p>
          <a:p>
            <a:pPr lvl="2"/>
            <a:r>
              <a:rPr lang="en-US" sz="800" dirty="0"/>
              <a:t>Use version control algorithms to track template changes, ensuring the use of the latest and most accurate templates.</a:t>
            </a:r>
          </a:p>
        </p:txBody>
      </p:sp>
    </p:spTree>
    <p:extLst>
      <p:ext uri="{BB962C8B-B14F-4D97-AF65-F5344CB8AC3E}">
        <p14:creationId xmlns:p14="http://schemas.microsoft.com/office/powerpoint/2010/main" val="2396263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E754-8011-007C-8F58-49A0A9BD7317}"/>
              </a:ext>
            </a:extLst>
          </p:cNvPr>
          <p:cNvSpPr>
            <a:spLocks noGrp="1"/>
          </p:cNvSpPr>
          <p:nvPr>
            <p:ph type="title"/>
          </p:nvPr>
        </p:nvSpPr>
        <p:spPr/>
        <p:txBody>
          <a:bodyPr/>
          <a:lstStyle/>
          <a:p>
            <a:r>
              <a:rPr lang="en-US" dirty="0"/>
              <a:t>Team Strengths/Unique Selling Points – Our Collective Strengths</a:t>
            </a:r>
            <a:endParaRPr lang="en-GB" dirty="0"/>
          </a:p>
        </p:txBody>
      </p:sp>
      <p:sp>
        <p:nvSpPr>
          <p:cNvPr id="3" name="Content Placeholder 2">
            <a:extLst>
              <a:ext uri="{FF2B5EF4-FFF2-40B4-BE49-F238E27FC236}">
                <a16:creationId xmlns:a16="http://schemas.microsoft.com/office/drawing/2014/main" id="{846A0C6F-5BF4-6B96-89F9-F5398C18556E}"/>
              </a:ext>
            </a:extLst>
          </p:cNvPr>
          <p:cNvSpPr>
            <a:spLocks noGrp="1"/>
          </p:cNvSpPr>
          <p:nvPr>
            <p:ph idx="1"/>
          </p:nvPr>
        </p:nvSpPr>
        <p:spPr/>
        <p:txBody>
          <a:bodyPr>
            <a:normAutofit lnSpcReduction="10000"/>
          </a:bodyPr>
          <a:lstStyle/>
          <a:p>
            <a:r>
              <a:rPr lang="en-US" dirty="0"/>
              <a:t>Project management, legal understanding (Martin)</a:t>
            </a:r>
          </a:p>
          <a:p>
            <a:r>
              <a:rPr lang="en-US" dirty="0"/>
              <a:t>Web development (Andreas)</a:t>
            </a:r>
          </a:p>
          <a:p>
            <a:r>
              <a:rPr lang="en-US" dirty="0"/>
              <a:t>AI Research (</a:t>
            </a:r>
            <a:r>
              <a:rPr lang="en-US" dirty="0" err="1"/>
              <a:t>Humais</a:t>
            </a:r>
            <a:r>
              <a:rPr lang="en-US" dirty="0"/>
              <a:t>)</a:t>
            </a:r>
          </a:p>
          <a:p>
            <a:r>
              <a:rPr lang="en-US" dirty="0"/>
              <a:t>Experience using frameworks and tools (Matty)</a:t>
            </a:r>
          </a:p>
          <a:p>
            <a:r>
              <a:rPr lang="en-US" dirty="0"/>
              <a:t>Experience in completing projects in real environments with strict deadlines (Jacob)</a:t>
            </a:r>
          </a:p>
          <a:p>
            <a:r>
              <a:rPr lang="en-US" dirty="0"/>
              <a:t>Customer experience</a:t>
            </a:r>
          </a:p>
          <a:p>
            <a:r>
              <a:rPr lang="en-US" dirty="0"/>
              <a:t>Programming proficiencies</a:t>
            </a:r>
          </a:p>
          <a:p>
            <a:r>
              <a:rPr lang="en-US" dirty="0"/>
              <a:t>Enthusiasm and motivation to learn new things </a:t>
            </a:r>
          </a:p>
          <a:p>
            <a:pPr marL="0" indent="0">
              <a:buNone/>
            </a:pPr>
            <a:endParaRPr lang="en-US" dirty="0"/>
          </a:p>
          <a:p>
            <a:endParaRPr lang="en-US" dirty="0"/>
          </a:p>
        </p:txBody>
      </p:sp>
    </p:spTree>
    <p:extLst>
      <p:ext uri="{BB962C8B-B14F-4D97-AF65-F5344CB8AC3E}">
        <p14:creationId xmlns:p14="http://schemas.microsoft.com/office/powerpoint/2010/main" val="1726597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DB5EA-5B14-7AE6-1EBA-03B1C41A8624}"/>
              </a:ext>
            </a:extLst>
          </p:cNvPr>
          <p:cNvSpPr>
            <a:spLocks noGrp="1"/>
          </p:cNvSpPr>
          <p:nvPr>
            <p:ph type="title"/>
          </p:nvPr>
        </p:nvSpPr>
        <p:spPr/>
        <p:txBody>
          <a:bodyPr>
            <a:normAutofit fontScale="90000"/>
          </a:bodyPr>
          <a:lstStyle/>
          <a:p>
            <a:r>
              <a:rPr lang="en-US" dirty="0"/>
              <a:t>Work Style &amp; Methodology -  Team Leader Leadership and also how we will Work Agile/Waterfall</a:t>
            </a:r>
            <a:endParaRPr lang="en-GB" dirty="0"/>
          </a:p>
        </p:txBody>
      </p:sp>
      <p:sp>
        <p:nvSpPr>
          <p:cNvPr id="3" name="Content Placeholder 2">
            <a:extLst>
              <a:ext uri="{FF2B5EF4-FFF2-40B4-BE49-F238E27FC236}">
                <a16:creationId xmlns:a16="http://schemas.microsoft.com/office/drawing/2014/main" id="{FAF3B558-D377-ACEA-4623-F25727588C25}"/>
              </a:ext>
            </a:extLst>
          </p:cNvPr>
          <p:cNvSpPr>
            <a:spLocks noGrp="1"/>
          </p:cNvSpPr>
          <p:nvPr>
            <p:ph idx="1"/>
          </p:nvPr>
        </p:nvSpPr>
        <p:spPr/>
        <p:txBody>
          <a:bodyPr>
            <a:normAutofit fontScale="70000" lnSpcReduction="20000"/>
          </a:bodyPr>
          <a:lstStyle/>
          <a:p>
            <a:r>
              <a:rPr lang="en-US" sz="2800" dirty="0"/>
              <a:t>Gather requirements from client using software engineering techniques such as use case and scenarios, prototypes, UML, interviews, and brainstorming.</a:t>
            </a:r>
          </a:p>
          <a:p>
            <a:r>
              <a:rPr lang="en-US" sz="2800" dirty="0"/>
              <a:t>Create detailed specifications based on client requirements </a:t>
            </a:r>
          </a:p>
          <a:p>
            <a:r>
              <a:rPr lang="en-US" sz="2800" dirty="0"/>
              <a:t>Heavy research into law/legal formatting, language model, legal stipulations</a:t>
            </a:r>
          </a:p>
          <a:p>
            <a:r>
              <a:rPr lang="en-US" sz="2800" dirty="0"/>
              <a:t>Research into document uploading/editing/downloading, feedback system, multiple document support, user-friendly UI and tutorials to cater to a diverse user base, reviewing to highlight potential risks and a summary of findings, law/legal processes/protocols, AI language models, encryption protocols, tools to be used (taking into account encryption/security methods and legal boundaries to produce a legally sound and robust system)</a:t>
            </a:r>
          </a:p>
          <a:p>
            <a:r>
              <a:rPr lang="en-US" sz="2800" dirty="0"/>
              <a:t>Building the software following SE principles such as scrum/Git using our already founded technical abilities as well as new technical abilities we will learn on the way</a:t>
            </a:r>
          </a:p>
          <a:p>
            <a:r>
              <a:rPr lang="en-US" sz="2800" dirty="0"/>
              <a:t>Testing the final prototype to ensure the integrity and scalability of the product</a:t>
            </a:r>
          </a:p>
          <a:p>
            <a:r>
              <a:rPr lang="en-US" sz="2800" dirty="0"/>
              <a:t>All whilst ensuring regular communication with the client to ensure the project is on the right route and what they client wants using both agile and waterfall methodologies dependent on requirements</a:t>
            </a:r>
          </a:p>
        </p:txBody>
      </p:sp>
    </p:spTree>
    <p:extLst>
      <p:ext uri="{BB962C8B-B14F-4D97-AF65-F5344CB8AC3E}">
        <p14:creationId xmlns:p14="http://schemas.microsoft.com/office/powerpoint/2010/main" val="3275637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F8CF0-3F3B-50E3-44D4-60A4D2C7BB19}"/>
              </a:ext>
            </a:extLst>
          </p:cNvPr>
          <p:cNvSpPr>
            <a:spLocks noGrp="1"/>
          </p:cNvSpPr>
          <p:nvPr>
            <p:ph type="title"/>
          </p:nvPr>
        </p:nvSpPr>
        <p:spPr/>
        <p:txBody>
          <a:bodyPr/>
          <a:lstStyle/>
          <a:p>
            <a:r>
              <a:rPr lang="en-US" dirty="0"/>
              <a:t>Ethos and Values - how we relate to the company </a:t>
            </a:r>
            <a:endParaRPr lang="en-GB" dirty="0"/>
          </a:p>
        </p:txBody>
      </p:sp>
      <p:sp>
        <p:nvSpPr>
          <p:cNvPr id="3" name="Content Placeholder 2">
            <a:extLst>
              <a:ext uri="{FF2B5EF4-FFF2-40B4-BE49-F238E27FC236}">
                <a16:creationId xmlns:a16="http://schemas.microsoft.com/office/drawing/2014/main" id="{37E04FFA-DA6E-6652-7328-FD65FF82661E}"/>
              </a:ext>
            </a:extLst>
          </p:cNvPr>
          <p:cNvSpPr>
            <a:spLocks noGrp="1"/>
          </p:cNvSpPr>
          <p:nvPr>
            <p:ph idx="1"/>
          </p:nvPr>
        </p:nvSpPr>
        <p:spPr/>
        <p:txBody>
          <a:bodyPr/>
          <a:lstStyle/>
          <a:p>
            <a:r>
              <a:rPr lang="en-US" dirty="0"/>
              <a:t>Explain BrowneJacobson ethos and values and how ours compare with it (fairness, equality, professionalism, ambition, practical)</a:t>
            </a:r>
          </a:p>
          <a:p>
            <a:r>
              <a:rPr lang="en-US" dirty="0"/>
              <a:t>Link to relevant experiences as evidence</a:t>
            </a:r>
          </a:p>
          <a:p>
            <a:r>
              <a:rPr lang="en-US" dirty="0"/>
              <a:t>Customer service experience, why we like working with customers</a:t>
            </a:r>
          </a:p>
          <a:p>
            <a:endParaRPr lang="en-US" dirty="0"/>
          </a:p>
          <a:p>
            <a:endParaRPr lang="en-GB" dirty="0"/>
          </a:p>
        </p:txBody>
      </p:sp>
    </p:spTree>
    <p:extLst>
      <p:ext uri="{BB962C8B-B14F-4D97-AF65-F5344CB8AC3E}">
        <p14:creationId xmlns:p14="http://schemas.microsoft.com/office/powerpoint/2010/main" val="1016104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9361-1427-EA35-E78C-CB4F3909AC2A}"/>
              </a:ext>
            </a:extLst>
          </p:cNvPr>
          <p:cNvSpPr>
            <a:spLocks noGrp="1"/>
          </p:cNvSpPr>
          <p:nvPr>
            <p:ph type="title"/>
          </p:nvPr>
        </p:nvSpPr>
        <p:spPr/>
        <p:txBody>
          <a:bodyPr>
            <a:normAutofit fontScale="90000"/>
          </a:bodyPr>
          <a:lstStyle/>
          <a:p>
            <a:r>
              <a:rPr lang="en-US" sz="4900" i="0" dirty="0">
                <a:effectLst/>
              </a:rPr>
              <a:t>Next Steps and Timeline - our outline of events (look forward to </a:t>
            </a:r>
            <a:r>
              <a:rPr lang="en-US" sz="4900" dirty="0"/>
              <a:t>Q</a:t>
            </a:r>
            <a:r>
              <a:rPr lang="en-US" sz="4900" i="0" dirty="0">
                <a:effectLst/>
              </a:rPr>
              <a:t>&amp;</a:t>
            </a:r>
            <a:r>
              <a:rPr lang="en-US" sz="4900" dirty="0"/>
              <a:t>A</a:t>
            </a:r>
            <a:r>
              <a:rPr lang="en-US" sz="4900" i="0" dirty="0">
                <a:effectLst/>
              </a:rPr>
              <a:t>)</a:t>
            </a:r>
            <a:br>
              <a:rPr lang="en-US" b="1" i="0" dirty="0">
                <a:effectLst/>
                <a:latin typeface="-apple-system"/>
              </a:rPr>
            </a:br>
            <a:endParaRPr lang="en-GB" dirty="0"/>
          </a:p>
        </p:txBody>
      </p:sp>
      <p:sp>
        <p:nvSpPr>
          <p:cNvPr id="3" name="Content Placeholder 2">
            <a:extLst>
              <a:ext uri="{FF2B5EF4-FFF2-40B4-BE49-F238E27FC236}">
                <a16:creationId xmlns:a16="http://schemas.microsoft.com/office/drawing/2014/main" id="{8E983DAB-5841-FC0D-AABA-A3EE33F49ED7}"/>
              </a:ext>
            </a:extLst>
          </p:cNvPr>
          <p:cNvSpPr>
            <a:spLocks noGrp="1"/>
          </p:cNvSpPr>
          <p:nvPr>
            <p:ph idx="1"/>
          </p:nvPr>
        </p:nvSpPr>
        <p:spPr/>
        <p:txBody>
          <a:bodyPr/>
          <a:lstStyle/>
          <a:p>
            <a:r>
              <a:rPr lang="en-US" dirty="0"/>
              <a:t>What questions we would ask to BrowneJacobson</a:t>
            </a:r>
          </a:p>
          <a:p>
            <a:pPr lvl="1"/>
            <a:r>
              <a:rPr lang="en-US" dirty="0"/>
              <a:t>?</a:t>
            </a:r>
          </a:p>
          <a:p>
            <a:pPr lvl="1"/>
            <a:r>
              <a:rPr lang="en-US" dirty="0"/>
              <a:t>?</a:t>
            </a:r>
          </a:p>
          <a:p>
            <a:pPr lvl="1"/>
            <a:r>
              <a:rPr lang="en-US" dirty="0"/>
              <a:t>?</a:t>
            </a:r>
          </a:p>
          <a:p>
            <a:r>
              <a:rPr lang="en-US" dirty="0"/>
              <a:t>How to setup regular meeting times</a:t>
            </a:r>
          </a:p>
          <a:p>
            <a:r>
              <a:rPr lang="en-US" dirty="0"/>
              <a:t>Gather requirements from client</a:t>
            </a:r>
          </a:p>
          <a:p>
            <a:r>
              <a:rPr lang="en-US" dirty="0"/>
              <a:t>Establish milestones with the client</a:t>
            </a:r>
          </a:p>
        </p:txBody>
      </p:sp>
    </p:spTree>
    <p:extLst>
      <p:ext uri="{BB962C8B-B14F-4D97-AF65-F5344CB8AC3E}">
        <p14:creationId xmlns:p14="http://schemas.microsoft.com/office/powerpoint/2010/main" val="2075496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84A5-65D3-5485-1680-83B25ED3F8E5}"/>
              </a:ext>
            </a:extLst>
          </p:cNvPr>
          <p:cNvSpPr>
            <a:spLocks noGrp="1"/>
          </p:cNvSpPr>
          <p:nvPr>
            <p:ph type="title"/>
          </p:nvPr>
        </p:nvSpPr>
        <p:spPr/>
        <p:txBody>
          <a:bodyPr/>
          <a:lstStyle/>
          <a:p>
            <a:r>
              <a:rPr lang="en-US" i="0" dirty="0">
                <a:effectLst/>
              </a:rPr>
              <a:t>Conclusion and Call to Action - End</a:t>
            </a:r>
            <a:br>
              <a:rPr lang="en-US" b="1" i="0" dirty="0">
                <a:effectLst/>
                <a:latin typeface="-apple-system"/>
              </a:rPr>
            </a:br>
            <a:endParaRPr lang="en-GB" dirty="0"/>
          </a:p>
        </p:txBody>
      </p:sp>
      <p:sp>
        <p:nvSpPr>
          <p:cNvPr id="3" name="Content Placeholder 2">
            <a:extLst>
              <a:ext uri="{FF2B5EF4-FFF2-40B4-BE49-F238E27FC236}">
                <a16:creationId xmlns:a16="http://schemas.microsoft.com/office/drawing/2014/main" id="{3792670B-1038-4918-1915-1BA3FE93D06B}"/>
              </a:ext>
            </a:extLst>
          </p:cNvPr>
          <p:cNvSpPr>
            <a:spLocks noGrp="1"/>
          </p:cNvSpPr>
          <p:nvPr>
            <p:ph idx="1"/>
          </p:nvPr>
        </p:nvSpPr>
        <p:spPr/>
        <p:txBody>
          <a:bodyPr/>
          <a:lstStyle/>
          <a:p>
            <a:r>
              <a:rPr lang="en-US" dirty="0"/>
              <a:t>A small speech highlighting the key parts of a our team, our passions, our ambition and our gratuity to the client for the opportunity (we are excited to hear/work with you)</a:t>
            </a:r>
            <a:endParaRPr lang="en-GB" dirty="0"/>
          </a:p>
        </p:txBody>
      </p:sp>
    </p:spTree>
    <p:extLst>
      <p:ext uri="{BB962C8B-B14F-4D97-AF65-F5344CB8AC3E}">
        <p14:creationId xmlns:p14="http://schemas.microsoft.com/office/powerpoint/2010/main" val="3297953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877</Words>
  <Application>Microsoft Office PowerPoint</Application>
  <PresentationFormat>Widescreen</PresentationFormat>
  <Paragraphs>69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-apple-system</vt:lpstr>
      <vt:lpstr>Arial</vt:lpstr>
      <vt:lpstr>Calibri</vt:lpstr>
      <vt:lpstr>Calibri Light</vt:lpstr>
      <vt:lpstr>Office Theme</vt:lpstr>
      <vt:lpstr>Introduction – Intro to the Video</vt:lpstr>
      <vt:lpstr>Problem Statement – We Discuss the Problem</vt:lpstr>
      <vt:lpstr>Solution – an Outline with Ambiguity</vt:lpstr>
      <vt:lpstr>Team Strengths/Unique Selling Points – Our Collective Strengths</vt:lpstr>
      <vt:lpstr>Work Style &amp; Methodology -  Team Leader Leadership and also how we will Work Agile/Waterfall</vt:lpstr>
      <vt:lpstr>Ethos and Values - how we relate to the company </vt:lpstr>
      <vt:lpstr>Next Steps and Timeline - our outline of events (look forward to Q&amp;A) </vt:lpstr>
      <vt:lpstr>Conclusion and Call to Action -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Jacob Stephens</dc:creator>
  <cp:lastModifiedBy>Jacob Stephens</cp:lastModifiedBy>
  <cp:revision>96</cp:revision>
  <dcterms:created xsi:type="dcterms:W3CDTF">2023-10-13T12:18:10Z</dcterms:created>
  <dcterms:modified xsi:type="dcterms:W3CDTF">2023-10-15T21:31:43Z</dcterms:modified>
</cp:coreProperties>
</file>